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6CF7"/>
          </a:solidFill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Multimodal Robotics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Data Pipeline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data ingestion for scalable robot learning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4A6CF7">
              <a:alpha val="30000"/>
            </a:srgbClr>
          </a:solidFill>
        </p:spPr>
      </p:sp>
      <p:sp>
        <p:nvSpPr>
          <p:cNvPr id="6" name="Text 4"/>
          <p:cNvSpPr/>
          <p:nvPr/>
        </p:nvSpPr>
        <p:spPr>
          <a:xfrm>
            <a:off x="731520" y="3474720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834640" y="3474720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4A6CF7">
              <a:alpha val="30000"/>
            </a:srgbClr>
          </a:solidFill>
        </p:spPr>
      </p:sp>
      <p:sp>
        <p:nvSpPr>
          <p:cNvPr id="8" name="Text 6"/>
          <p:cNvSpPr/>
          <p:nvPr/>
        </p:nvSpPr>
        <p:spPr>
          <a:xfrm>
            <a:off x="2834640" y="3474720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Config-Driven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937760" y="3474720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4A6CF7">
              <a:alpha val="30000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4937760" y="3474720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29768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 Hong  |  InGen Dynamics  |  February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The Challenge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robot foundation models requires standardized multimodal data — but the ecosystem is fragmented.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840480" cy="13716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54864" cy="1371600"/>
          </a:xfrm>
          <a:prstGeom prst="rect">
            <a:avLst/>
          </a:prstGeom>
          <a:solidFill>
            <a:srgbClr val="DC2626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830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73736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Fragmented Formats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19456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HDF5, ROS bags, TFRecord, JSON — every source uses different structures and naming conventions.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554480"/>
            <a:ext cx="3840480" cy="13716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554480"/>
            <a:ext cx="54864" cy="1371600"/>
          </a:xfrm>
          <a:prstGeom prst="rect">
            <a:avLst/>
          </a:prstGeom>
          <a:solidFill>
            <a:srgbClr val="D97706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78308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73736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Inconsistent Sampling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983480" y="219456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at 3–60 Hz, joints at 100 Hz, audio at 16 kHz — no temporal alignment across modalities.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154680"/>
            <a:ext cx="3840480" cy="13716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3154680"/>
            <a:ext cx="54864" cy="1371600"/>
          </a:xfrm>
          <a:prstGeom prst="rect">
            <a:avLst/>
          </a:prstGeom>
          <a:solidFill>
            <a:srgbClr val="7C3AED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38328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333756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Missing Modalities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777240" y="379476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data lacks audio and tactile; real-world robots may lack depth cameras or language labels.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54880" y="3154680"/>
            <a:ext cx="3840480" cy="13716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3154680"/>
            <a:ext cx="54864" cy="1371600"/>
          </a:xfrm>
          <a:prstGeom prst="rect">
            <a:avLst/>
          </a:prstGeom>
          <a:solidFill>
            <a:srgbClr val="2563EB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38328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40680" y="333756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Manual Preprocessing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983480" y="379476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dataset requires custom ETL code before model training — weeks of engineering per source.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25" name="Text 19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Robotics Data Pipeline  |  InGen Dynamics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What We Built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560320" cy="3200400"/>
          </a:xfrm>
          <a:prstGeom prst="rect">
            <a:avLst/>
          </a:prstGeom>
          <a:solidFill>
            <a:srgbClr val="F5F7FA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71600" y="1463040"/>
            <a:ext cx="914400" cy="914400"/>
          </a:xfrm>
          <a:prstGeom prst="ellipse">
            <a:avLst/>
          </a:prstGeom>
          <a:solidFill>
            <a:srgbClr val="4A6CF7">
              <a:alpha val="15000"/>
            </a:srgbClr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6459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56032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Unified Schema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301752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canonical JSON format covering all 5 modalities — vision, proprioception, audio, language, tactile. Versioned and extensible.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83280" y="1188720"/>
            <a:ext cx="2560320" cy="3200400"/>
          </a:xfrm>
          <a:prstGeom prst="rect">
            <a:avLst/>
          </a:prstGeom>
          <a:solidFill>
            <a:srgbClr val="F5F7FA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206240" y="1463040"/>
            <a:ext cx="914400" cy="914400"/>
          </a:xfrm>
          <a:prstGeom prst="ellipse">
            <a:avLst/>
          </a:prstGeom>
          <a:solidFill>
            <a:srgbClr val="0D9488">
              <a:alpha val="15000"/>
            </a:srgbClr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64592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66160" y="256032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Config-Driven Pipeline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566160" y="301752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any new data source by writing a YAML config file. Zero code changes. Plug-and-play architecture.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17920" y="1188720"/>
            <a:ext cx="2560320" cy="3200400"/>
          </a:xfrm>
          <a:prstGeom prst="rect">
            <a:avLst/>
          </a:prstGeom>
          <a:solidFill>
            <a:srgbClr val="F5F7FA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040880" y="1463040"/>
            <a:ext cx="914400" cy="914400"/>
          </a:xfrm>
          <a:prstGeom prst="ellipse">
            <a:avLst/>
          </a:prstGeom>
          <a:solidFill>
            <a:srgbClr val="10B981">
              <a:alpha val="15000"/>
            </a:srgbClr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64592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00800" y="256032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9-Point Validation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400800" y="301752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compliance checks on every record: timestamps, enums, sensor IDs, schema structure, bounds.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19" name="Text 14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Robotics Data Pipeline  |  InGen Dynamics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Unified Schema: 5 Modalities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data_schema_v1.json — every robot episode in one standardized record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371600"/>
            <a:ext cx="1554480" cy="2926080"/>
          </a:xfrm>
          <a:prstGeom prst="rect">
            <a:avLst/>
          </a:prstGeom>
          <a:solidFill>
            <a:srgbClr val="F5F7FA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371600"/>
            <a:ext cx="1554480" cy="54864"/>
          </a:xfrm>
          <a:prstGeom prst="rect">
            <a:avLst/>
          </a:prstGeom>
          <a:solidFill>
            <a:srgbClr val="2563EB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459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224028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Vision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1480" y="2606040"/>
            <a:ext cx="13716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+ Depth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Hz, 1280×720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Multi-camera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057400" y="1371600"/>
            <a:ext cx="1554480" cy="2926080"/>
          </a:xfrm>
          <a:prstGeom prst="rect">
            <a:avLst/>
          </a:prstGeom>
          <a:solidFill>
            <a:srgbClr val="F5F7FA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057400" y="1371600"/>
            <a:ext cx="1554480" cy="54864"/>
          </a:xfrm>
          <a:prstGeom prst="rect">
            <a:avLst/>
          </a:prstGeom>
          <a:solidFill>
            <a:srgbClr val="7C3AED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16459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48840" y="224028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Proprioception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148840" y="2606040"/>
            <a:ext cx="13716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states + IMU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Hz, radians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9-DOF support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794760" y="1371600"/>
            <a:ext cx="1554480" cy="2926080"/>
          </a:xfrm>
          <a:prstGeom prst="rect">
            <a:avLst/>
          </a:prstGeom>
          <a:solidFill>
            <a:srgbClr val="F5F7FA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794760" y="1371600"/>
            <a:ext cx="1554480" cy="54864"/>
          </a:xfrm>
          <a:prstGeom prst="rect">
            <a:avLst/>
          </a:prstGeom>
          <a:solidFill>
            <a:srgbClr val="DC2626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6459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86200" y="224028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Audio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886200" y="2606040"/>
            <a:ext cx="13716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 reference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16,000 Hz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storage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532120" y="1371600"/>
            <a:ext cx="1554480" cy="2926080"/>
          </a:xfrm>
          <a:prstGeom prst="rect">
            <a:avLst/>
          </a:prstGeom>
          <a:solidFill>
            <a:srgbClr val="F5F7FA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532120" y="1371600"/>
            <a:ext cx="1554480" cy="54864"/>
          </a:xfrm>
          <a:prstGeom prst="rect">
            <a:avLst/>
          </a:prstGeom>
          <a:solidFill>
            <a:srgbClr val="D97706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64592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23560" y="224028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Language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623560" y="2606040"/>
            <a:ext cx="13716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instructions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/ LLM / Script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269480" y="1371600"/>
            <a:ext cx="1554480" cy="2926080"/>
          </a:xfrm>
          <a:prstGeom prst="rect">
            <a:avLst/>
          </a:prstGeom>
          <a:solidFill>
            <a:srgbClr val="F5F7FA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269480" y="1371600"/>
            <a:ext cx="1554480" cy="54864"/>
          </a:xfrm>
          <a:prstGeom prst="rect">
            <a:avLst/>
          </a:prstGeom>
          <a:solidFill>
            <a:srgbClr val="0D9488"/>
          </a:solidFill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164592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60920" y="224028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Tactile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7360920" y="2606040"/>
            <a:ext cx="13716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+ Pressure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arrays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Gripper sensing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0" name="Text 23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Robotics Data Pipeline  |  InGen Dynamics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Pipeline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processing: Raw Data → Validated Schema Records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1463040" cy="20116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371600"/>
            <a:ext cx="1463040" cy="54864"/>
          </a:xfrm>
          <a:prstGeom prst="rect">
            <a:avLst/>
          </a:prstGeom>
          <a:solidFill>
            <a:srgbClr val="4A6CF7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28600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Raw Data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260604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HDF5 / TFRecord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0" y="2148840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103120" y="1371600"/>
            <a:ext cx="1463040" cy="20116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2103120" y="1371600"/>
            <a:ext cx="1463040" cy="54864"/>
          </a:xfrm>
          <a:prstGeom prst="rect">
            <a:avLst/>
          </a:prstGeom>
          <a:solidFill>
            <a:srgbClr val="4A6CF7"/>
          </a:solidFill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1645920"/>
            <a:ext cx="548640" cy="548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194560" y="228600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DataLoader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2194560" y="260604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YAML Config</a:t>
            </a:r>
            <a:endParaRPr lang="en-US" sz="10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2148840"/>
            <a:ext cx="274320" cy="27432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3931920" y="1371600"/>
            <a:ext cx="1463040" cy="20116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3931920" y="1371600"/>
            <a:ext cx="1463040" cy="54864"/>
          </a:xfrm>
          <a:prstGeom prst="rect">
            <a:avLst/>
          </a:prstGeom>
          <a:solidFill>
            <a:srgbClr val="4A6CF7"/>
          </a:solidFill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645920"/>
            <a:ext cx="548640" cy="5486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023360" y="228600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Normalizer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4023360" y="260604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</a:t>
            </a:r>
            <a:endParaRPr lang="en-US" sz="10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2148840"/>
            <a:ext cx="274320" cy="27432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5760720" y="1371600"/>
            <a:ext cx="1463040" cy="20116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5760720" y="1371600"/>
            <a:ext cx="1463040" cy="54864"/>
          </a:xfrm>
          <a:prstGeom prst="rect">
            <a:avLst/>
          </a:prstGeom>
          <a:solidFill>
            <a:srgbClr val="4A6CF7"/>
          </a:solidFill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645920"/>
            <a:ext cx="548640" cy="54864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852160" y="228600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Schema Packer</a:t>
            </a:r>
            <a:endParaRPr lang="en-US" sz="1200" dirty="0"/>
          </a:p>
        </p:txBody>
      </p:sp>
      <p:sp>
        <p:nvSpPr>
          <p:cNvPr id="26" name="Text 17"/>
          <p:cNvSpPr/>
          <p:nvPr/>
        </p:nvSpPr>
        <p:spPr>
          <a:xfrm>
            <a:off x="5852160" y="260604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Output</a:t>
            </a:r>
            <a:endParaRPr lang="en-US" sz="10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2148840"/>
            <a:ext cx="274320" cy="274320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7589520" y="1371600"/>
            <a:ext cx="1463040" cy="20116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19"/>
          <p:cNvSpPr/>
          <p:nvPr/>
        </p:nvSpPr>
        <p:spPr>
          <a:xfrm>
            <a:off x="7589520" y="1371600"/>
            <a:ext cx="1463040" cy="54864"/>
          </a:xfrm>
          <a:prstGeom prst="rect">
            <a:avLst/>
          </a:prstGeom>
          <a:solidFill>
            <a:srgbClr val="4A6CF7"/>
          </a:solidFill>
        </p:spPr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1645920"/>
            <a:ext cx="548640" cy="54864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7680960" y="228600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Validator</a:t>
            </a:r>
            <a:endParaRPr lang="en-US" sz="1200" dirty="0"/>
          </a:p>
        </p:txBody>
      </p:sp>
      <p:sp>
        <p:nvSpPr>
          <p:cNvPr id="32" name="Text 21"/>
          <p:cNvSpPr/>
          <p:nvPr/>
        </p:nvSpPr>
        <p:spPr>
          <a:xfrm>
            <a:off x="7680960" y="260604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Checks</a:t>
            </a:r>
            <a:endParaRPr lang="en-US" sz="1000" dirty="0"/>
          </a:p>
        </p:txBody>
      </p:sp>
      <p:sp>
        <p:nvSpPr>
          <p:cNvPr id="33" name="Shape 22"/>
          <p:cNvSpPr/>
          <p:nvPr/>
        </p:nvSpPr>
        <p:spPr>
          <a:xfrm>
            <a:off x="548640" y="3749040"/>
            <a:ext cx="8046720" cy="594360"/>
          </a:xfrm>
          <a:prstGeom prst="rect">
            <a:avLst/>
          </a:prstGeom>
          <a:solidFill>
            <a:srgbClr val="1E2761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Text 23"/>
          <p:cNvSpPr/>
          <p:nvPr/>
        </p:nvSpPr>
        <p:spPr>
          <a:xfrm>
            <a:off x="548640" y="3749040"/>
            <a:ext cx="80467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Validated JSON records — ready for model training</a:t>
            </a:r>
            <a:endParaRPr lang="en-US" sz="1300" dirty="0"/>
          </a:p>
        </p:txBody>
      </p:sp>
      <p:sp>
        <p:nvSpPr>
          <p:cNvPr id="35" name="Shape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6" name="Text 25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Robotics Data Pipeline  |  InGen Dynamics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Plug-and-Play: Add Any Source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YAML config → run the pipeline → get validated schema records. No code changes.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4206240" cy="3200400"/>
          </a:xfrm>
          <a:prstGeom prst="rect">
            <a:avLst/>
          </a:prstGeom>
          <a:solidFill>
            <a:srgbClr val="F8FAFC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4206240" cy="32004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731520" y="1280160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source_configs/isaac_sim.yaml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3840480" cy="2697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A3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source_name: "isaac_sim_mimic"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A3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format: "hdf5"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A3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vision: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A3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streams: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A3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name: "table_cam_rgb"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A3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type: "rgb"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A3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hdf5_path: "obs/table_cam"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A3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sensor_id: "cam_table_rgb"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A3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proprioception: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A3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joint_pos: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A3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hdf5_path: "obs/joint_pos"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A3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sampling: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A3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control_rate_hz: 20.0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120640" y="1371600"/>
            <a:ext cx="411480" cy="411480"/>
          </a:xfrm>
          <a:prstGeom prst="ellipse">
            <a:avLst/>
          </a:prstGeom>
          <a:solidFill>
            <a:srgbClr val="4A6CF7"/>
          </a:solidFill>
        </p:spPr>
      </p:sp>
      <p:sp>
        <p:nvSpPr>
          <p:cNvPr id="9" name="Text 7"/>
          <p:cNvSpPr/>
          <p:nvPr/>
        </p:nvSpPr>
        <p:spPr>
          <a:xfrm>
            <a:off x="5120640" y="137160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69280" y="132588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Write YAML Config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0" y="164592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source-specific field paths to unified modality names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20640" y="2423160"/>
            <a:ext cx="411480" cy="411480"/>
          </a:xfrm>
          <a:prstGeom prst="ellipse">
            <a:avLst/>
          </a:prstGeom>
          <a:solidFill>
            <a:srgbClr val="4A6CF7"/>
          </a:solidFill>
        </p:spPr>
      </p:sp>
      <p:sp>
        <p:nvSpPr>
          <p:cNvPr id="13" name="Text 11"/>
          <p:cNvSpPr/>
          <p:nvPr/>
        </p:nvSpPr>
        <p:spPr>
          <a:xfrm>
            <a:off x="5120640" y="242316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69280" y="237744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Run Pipeline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0" y="269748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pipeline.py --config your_source.yaml --data file.hdf5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20640" y="3474720"/>
            <a:ext cx="411480" cy="411480"/>
          </a:xfrm>
          <a:prstGeom prst="ellipse">
            <a:avLst/>
          </a:prstGeom>
          <a:solidFill>
            <a:srgbClr val="4A6CF7"/>
          </a:solidFill>
        </p:spPr>
      </p:sp>
      <p:sp>
        <p:nvSpPr>
          <p:cNvPr id="17" name="Text 15"/>
          <p:cNvSpPr/>
          <p:nvPr/>
        </p:nvSpPr>
        <p:spPr>
          <a:xfrm>
            <a:off x="5120640" y="347472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69280" y="342900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Get Output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0" y="374904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Normalized, validated JSON records conforming to schema v1.0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21" name="Text 19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Robotics Data Pipeline  |  InGen Dynamics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Integrated: NVIDIA Isaac Sim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Franka Panda robot manipulation demonstrations — cube stacking task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828800" cy="9144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98448"/>
            <a:ext cx="1828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1,000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51760" y="1280160"/>
            <a:ext cx="1828800" cy="9144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51760" y="1298448"/>
            <a:ext cx="1828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25.5 GB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651760" y="178308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Size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1828800" cy="9144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298448"/>
            <a:ext cx="1828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206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54880" y="178308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Steps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0" y="1280160"/>
            <a:ext cx="1828800" cy="9144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0" y="1298448"/>
            <a:ext cx="1828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9-DOF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58000" y="178308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Space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548640" y="246888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286000"/>
                <a:gridCol w="2286000"/>
                <a:gridCol w="182880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Modality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HDF5 Path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 (table)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obs/table_cam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(T, 200, 200, 3)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Mapped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 (wrist)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obs/wrist_cam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(T, 200, 200, 3)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Mapped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obs/table_cam_depth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(T, 200, 200, 1)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Mapped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 states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obs/joint_pos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(T, 9)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Mapped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Actions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actions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(T, 7)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Mapped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/ Tactile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(empty)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18" name="Text 15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Robotics Data Pipeline  |  InGen Dynamics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Integrated: Google RT-1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87,212 real-world manipulation episodes from 13 Everyday Robots — 700+ task types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828800" cy="9144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98448"/>
            <a:ext cx="1828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87,212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51760" y="1280160"/>
            <a:ext cx="1828800" cy="9144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51760" y="1298448"/>
            <a:ext cx="1828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111 GB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651760" y="178308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Size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1828800" cy="9144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298448"/>
            <a:ext cx="1828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13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54880" y="178308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Robots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0" y="1280160"/>
            <a:ext cx="1828800" cy="9144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0" y="1298448"/>
            <a:ext cx="1828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700+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58000" y="178308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Types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548640" y="246888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  <a:gridCol w="1645920"/>
                <a:gridCol w="182880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Modality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TFRecord Path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 (head)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observation.image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(T, 256, 320, 3)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Mapped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pose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observation.base_pose_tool_reached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(T, 7)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Mapped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Gripper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observation.gripper_closed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(T, 1)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Mapped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observation.natural_language_instruction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Mapped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Actions (7D)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action.world_vector + rotation + gripper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(T, 13)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Mapped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/ Tactile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(empty)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18" name="Text 15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Robotics Data Pipeline  |  InGen Dynamics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Two Sources, One Schema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pipeline processes fundamentally different data formats into identical schema records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  <a:gridCol w="301752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 Isaac Sim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RT-1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Georgia" panose="02040502050405090303" pitchFamily="34" charset="0"/>
                          <a:ea typeface="Georgia" panose="02040502050405090303" pitchFamily="34" charset="-122"/>
                          <a:cs typeface="Georgia" panose="02040502050405090303" pitchFamily="34" charset="-120"/>
                        </a:rPr>
                        <a:t>Source Type</a:t>
                      </a:r>
                      <a:endParaRPr lang="en-US" sz="1000" dirty="0">
                        <a:latin typeface="Georgia" panose="02040502050405090303" pitchFamily="34" charset="0"/>
                        <a:ea typeface="Georgia" panose="02040502050405090303" pitchFamily="34" charset="0"/>
                        <a:cs typeface="Georgia" panose="020405020504050903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 simulation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robots (13 units)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Georgia" panose="02040502050405090303" pitchFamily="34" charset="0"/>
                          <a:ea typeface="Georgia" panose="02040502050405090303" pitchFamily="34" charset="-122"/>
                          <a:cs typeface="Georgia" panose="02040502050405090303" pitchFamily="34" charset="-120"/>
                        </a:rPr>
                        <a:t>Robot</a:t>
                      </a:r>
                      <a:endParaRPr lang="en-US" sz="1000" dirty="0">
                        <a:latin typeface="Georgia" panose="02040502050405090303" pitchFamily="34" charset="0"/>
                        <a:ea typeface="Georgia" panose="02040502050405090303" pitchFamily="34" charset="0"/>
                        <a:cs typeface="Georgia" panose="020405020504050903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Franka Panda arm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Everyday Robot mobile manipulator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Georgia" panose="02040502050405090303" pitchFamily="34" charset="0"/>
                          <a:ea typeface="Georgia" panose="02040502050405090303" pitchFamily="34" charset="-122"/>
                          <a:cs typeface="Georgia" panose="02040502050405090303" pitchFamily="34" charset="-120"/>
                        </a:rPr>
                        <a:t>Environment</a:t>
                      </a:r>
                      <a:endParaRPr lang="en-US" sz="1000" dirty="0">
                        <a:latin typeface="Georgia" panose="02040502050405090303" pitchFamily="34" charset="0"/>
                        <a:ea typeface="Georgia" panose="02040502050405090303" pitchFamily="34" charset="0"/>
                        <a:cs typeface="Georgia" panose="020405020504050903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desktop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office kitchens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Georgia" panose="02040502050405090303" pitchFamily="34" charset="0"/>
                          <a:ea typeface="Georgia" panose="02040502050405090303" pitchFamily="34" charset="-122"/>
                          <a:cs typeface="Georgia" panose="02040502050405090303" pitchFamily="34" charset="-120"/>
                        </a:rPr>
                        <a:t>File Format</a:t>
                      </a:r>
                      <a:endParaRPr lang="en-US" sz="1000" dirty="0">
                        <a:latin typeface="Georgia" panose="02040502050405090303" pitchFamily="34" charset="0"/>
                        <a:ea typeface="Georgia" panose="02040502050405090303" pitchFamily="34" charset="0"/>
                        <a:cs typeface="Georgia" panose="020405020504050903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HDF5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TFRecord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Georgia" panose="02040502050405090303" pitchFamily="34" charset="0"/>
                          <a:ea typeface="Georgia" panose="02040502050405090303" pitchFamily="34" charset="-122"/>
                          <a:cs typeface="Georgia" panose="02040502050405090303" pitchFamily="34" charset="-120"/>
                        </a:rPr>
                        <a:t>Scale</a:t>
                      </a:r>
                      <a:endParaRPr lang="en-US" sz="1000" dirty="0">
                        <a:latin typeface="Georgia" panose="02040502050405090303" pitchFamily="34" charset="0"/>
                        <a:ea typeface="Georgia" panose="02040502050405090303" pitchFamily="34" charset="0"/>
                        <a:cs typeface="Georgia" panose="020405020504050903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 episodes / 25 GB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87,212 episodes / 111 GB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Georgia" panose="02040502050405090303" pitchFamily="34" charset="0"/>
                          <a:ea typeface="Georgia" panose="02040502050405090303" pitchFamily="34" charset="-122"/>
                          <a:cs typeface="Georgia" panose="02040502050405090303" pitchFamily="34" charset="-120"/>
                        </a:rPr>
                        <a:t>Vision</a:t>
                      </a:r>
                      <a:endParaRPr lang="en-US" sz="1000" dirty="0">
                        <a:latin typeface="Georgia" panose="02040502050405090303" pitchFamily="34" charset="0"/>
                        <a:ea typeface="Georgia" panose="02040502050405090303" pitchFamily="34" charset="0"/>
                        <a:cs typeface="Georgia" panose="020405020504050903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 RGB + 1× Depth (200×200)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1× RGB (256×320)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Georgia" panose="02040502050405090303" pitchFamily="34" charset="0"/>
                          <a:ea typeface="Georgia" panose="02040502050405090303" pitchFamily="34" charset="-122"/>
                          <a:cs typeface="Georgia" panose="02040502050405090303" pitchFamily="34" charset="-120"/>
                        </a:rPr>
                        <a:t>Language</a:t>
                      </a:r>
                      <a:endParaRPr lang="en-US" sz="1000" dirty="0">
                        <a:latin typeface="Georgia" panose="02040502050405090303" pitchFamily="34" charset="0"/>
                        <a:ea typeface="Georgia" panose="02040502050405090303" pitchFamily="34" charset="0"/>
                        <a:cs typeface="Georgia" panose="020405020504050903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 Scripted (from config)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Human instructions per episode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Georgia" panose="02040502050405090303" pitchFamily="34" charset="0"/>
                          <a:ea typeface="Georgia" panose="02040502050405090303" pitchFamily="34" charset="-122"/>
                          <a:cs typeface="Georgia" panose="02040502050405090303" pitchFamily="34" charset="-120"/>
                        </a:rPr>
                        <a:t>Actions</a:t>
                      </a:r>
                      <a:endParaRPr lang="en-US" sz="1000" dirty="0">
                        <a:latin typeface="Georgia" panose="02040502050405090303" pitchFamily="34" charset="0"/>
                        <a:ea typeface="Georgia" panose="02040502050405090303" pitchFamily="34" charset="0"/>
                        <a:cs typeface="Georgia" panose="020405020504050903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7D (6D EEF + gripper)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13D (position + rotation + base + gripper)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Georgia" panose="02040502050405090303" pitchFamily="34" charset="0"/>
                          <a:ea typeface="Georgia" panose="02040502050405090303" pitchFamily="34" charset="-122"/>
                          <a:cs typeface="Georgia" panose="02040502050405090303" pitchFamily="34" charset="-120"/>
                        </a:rPr>
                        <a:t>Pipeline Result</a:t>
                      </a:r>
                      <a:endParaRPr lang="en-US" sz="1000" dirty="0">
                        <a:latin typeface="Georgia" panose="02040502050405090303" pitchFamily="34" charset="0"/>
                        <a:ea typeface="Georgia" panose="02040502050405090303" pitchFamily="34" charset="0"/>
                        <a:cs typeface="Georgia" panose="020405020504050903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3/3 PASS  •  0 errors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3/3 PASS  •  0 errors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6" name="Text 3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Robotics Data Pipeline  |  InGen Dynamics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9-Point Validation 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output record is automatically validated before export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560320" cy="868680"/>
          </a:xfrm>
          <a:prstGeom prst="rect">
            <a:avLst/>
          </a:prstGeom>
          <a:solidFill>
            <a:srgbClr val="F5F7FA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37160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Required Fields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97280" y="17373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top-level keys present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383280" y="1280160"/>
            <a:ext cx="2560320" cy="868680"/>
          </a:xfrm>
          <a:prstGeom prst="rect">
            <a:avLst/>
          </a:prstGeom>
          <a:solidFill>
            <a:srgbClr val="F5F7FA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0440" y="146304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31920" y="137160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Timestamp Format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931920" y="17373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unix_epoch_ms integers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217920" y="1280160"/>
            <a:ext cx="2560320" cy="868680"/>
          </a:xfrm>
          <a:prstGeom prst="rect">
            <a:avLst/>
          </a:prstGeom>
          <a:solidFill>
            <a:srgbClr val="F5F7FA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46304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66560" y="137160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Timestamp Bounds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766560" y="17373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episode start/end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548640" y="2377440"/>
            <a:ext cx="2560320" cy="868680"/>
          </a:xfrm>
          <a:prstGeom prst="rect">
            <a:avLst/>
          </a:prstGeom>
          <a:solidFill>
            <a:srgbClr val="F5F7FA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56032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97280" y="246888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Task Enums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1097280" y="28346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task_type values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383280" y="2377440"/>
            <a:ext cx="2560320" cy="868680"/>
          </a:xfrm>
          <a:prstGeom prst="rect">
            <a:avLst/>
          </a:prstGeom>
          <a:solidFill>
            <a:srgbClr val="F5F7FA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0440" y="2560320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931920" y="246888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Language Enums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3931920" y="28346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language &amp; source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6217920" y="2377440"/>
            <a:ext cx="2560320" cy="868680"/>
          </a:xfrm>
          <a:prstGeom prst="rect">
            <a:avLst/>
          </a:prstGeom>
          <a:solidFill>
            <a:srgbClr val="F5F7FA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2560320"/>
            <a:ext cx="320040" cy="3200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766560" y="246888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Vision Integrity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6766560" y="28346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sensor_id + data_ref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548640" y="3474720"/>
            <a:ext cx="2560320" cy="868680"/>
          </a:xfrm>
          <a:prstGeom prst="rect">
            <a:avLst/>
          </a:prstGeom>
          <a:solidFill>
            <a:srgbClr val="F5F7FA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657600"/>
            <a:ext cx="320040" cy="32004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097280" y="35661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Prop. Consistency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1097280" y="39319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 = joint_states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3383280" y="3474720"/>
            <a:ext cx="2560320" cy="868680"/>
          </a:xfrm>
          <a:prstGeom prst="rect">
            <a:avLst/>
          </a:prstGeom>
          <a:solidFill>
            <a:srgbClr val="F5F7FA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0440" y="3657600"/>
            <a:ext cx="320040" cy="32004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3931920" y="35661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Metadata Validity</a:t>
            </a:r>
            <a:endParaRPr lang="en-US" sz="1200" dirty="0"/>
          </a:p>
        </p:txBody>
      </p:sp>
      <p:sp>
        <p:nvSpPr>
          <p:cNvPr id="35" name="Text 25"/>
          <p:cNvSpPr/>
          <p:nvPr/>
        </p:nvSpPr>
        <p:spPr>
          <a:xfrm>
            <a:off x="3931920" y="39319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source, env, frame_ref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6217920" y="3474720"/>
            <a:ext cx="2560320" cy="868680"/>
          </a:xfrm>
          <a:prstGeom prst="rect">
            <a:avLst/>
          </a:prstGeom>
          <a:solidFill>
            <a:srgbClr val="F5F7FA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3657600"/>
            <a:ext cx="320040" cy="32004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6766560" y="35661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Sensor ID Match</a:t>
            </a:r>
            <a:endParaRPr lang="en-US" sz="1200" dirty="0"/>
          </a:p>
        </p:txBody>
      </p:sp>
      <p:sp>
        <p:nvSpPr>
          <p:cNvPr id="39" name="Text 28"/>
          <p:cNvSpPr/>
          <p:nvPr/>
        </p:nvSpPr>
        <p:spPr>
          <a:xfrm>
            <a:off x="6766560" y="39319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Modalities ↔ metadata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41" name="Text 30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Robotics Data Pipeline  |  InGen Dynamics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Live Pipeline 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validation on both data sources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840480" cy="31089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3840480" cy="4114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731520" y="1280160"/>
            <a:ext cx="3474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NVIDIA Isaac Sim  •  HDF5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1005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B981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3/3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1005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Episodes PASS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920240" y="1920240"/>
            <a:ext cx="1005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B981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920240" y="2377440"/>
            <a:ext cx="1005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108960" y="1920240"/>
            <a:ext cx="1005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B981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1.08s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108960" y="2377440"/>
            <a:ext cx="1005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2834640"/>
            <a:ext cx="347472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mimic_dataset_1k.hdf5  •  25.5 GB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vision streams + proprioception + actions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9 validation checks passed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280160"/>
            <a:ext cx="3840480" cy="31089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280160"/>
            <a:ext cx="3840480" cy="411480"/>
          </a:xfrm>
          <a:prstGeom prst="rect">
            <a:avLst/>
          </a:prstGeom>
          <a:solidFill>
            <a:srgbClr val="4A6CF7"/>
          </a:solidFill>
        </p:spPr>
      </p:sp>
      <p:sp>
        <p:nvSpPr>
          <p:cNvPr id="16" name="Text 14"/>
          <p:cNvSpPr/>
          <p:nvPr/>
        </p:nvSpPr>
        <p:spPr>
          <a:xfrm>
            <a:off x="4937760" y="1280160"/>
            <a:ext cx="3474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Google RT-1  •  TFRecord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920240"/>
            <a:ext cx="1005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B981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3/3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937760" y="2377440"/>
            <a:ext cx="1005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Episodes PASS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26480" y="1920240"/>
            <a:ext cx="1005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B981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126480" y="2377440"/>
            <a:ext cx="1005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0" y="1920240"/>
            <a:ext cx="1005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B981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75.9s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315200" y="2377440"/>
            <a:ext cx="1005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37760" y="2834640"/>
            <a:ext cx="347472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fractal20220817_data  •  111 GB total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+ proprioception + language + actions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9 validation checks passed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25" name="Text 23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Robotics Data Pipeline  |  InGen Dynamics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Output: Schema Record Sample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931920" cy="3566160"/>
          </a:xfrm>
          <a:prstGeom prst="rect">
            <a:avLst/>
          </a:prstGeom>
          <a:solidFill>
            <a:srgbClr val="F8FAFC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05840"/>
            <a:ext cx="3931920" cy="320040"/>
          </a:xfrm>
          <a:prstGeom prst="rect">
            <a:avLst/>
          </a:prstGeom>
          <a:solidFill>
            <a:srgbClr val="4A6CF7"/>
          </a:solidFill>
        </p:spPr>
      </p:sp>
      <p:sp>
        <p:nvSpPr>
          <p:cNvPr id="5" name="Text 3"/>
          <p:cNvSpPr/>
          <p:nvPr/>
        </p:nvSpPr>
        <p:spPr>
          <a:xfrm>
            <a:off x="731520" y="100584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rt1_fractal20220817_episode_2.json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3566160" cy="3063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A3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A3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"schema_version": "v1.0",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A3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"sample_id": "rt1_fractal20220817_episode_2",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A3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"task_context":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A3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"language_instruction":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A3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"text": "pick apple from white bowl",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A3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"source": "human"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A3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A3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A3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"modalities":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A3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"vision": { "streams": [1 stream: head_rgb] },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A3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"proprioception": { "joint_states": [25 × 7] },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A3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"language": { "transcript": "pick apple..."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A3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A3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"metadata":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A3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"source": "real_world",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A3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"robot_platform": "everyday_robots_edr"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A3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A3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3931920" cy="3566160"/>
          </a:xfrm>
          <a:prstGeom prst="rect">
            <a:avLst/>
          </a:prstGeom>
          <a:solidFill>
            <a:srgbClr val="F8FAFC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1005840"/>
            <a:ext cx="3931920" cy="32004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4846320" y="100584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nvidia_mimic_franka_stack_demo_0.json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46320" y="1417320"/>
            <a:ext cx="3566160" cy="3063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A3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A3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"schema_version": "v1.0",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A3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"sample_id": "nvidia_mimic_franka_stack_demo_0",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A3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"task_context":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A3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"language_instruction":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A3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"text": "Stack the cubes in order",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A3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"source": "scripted"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A3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A3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A3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"modalities":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A3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"vision": { "streams": [3: table, wrist, depth] },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A3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"proprioception": { "joint_states": [206 × 9] },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A3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"language": { "transcript": ""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A3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A3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"metadata":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A3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"source": "simulation",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A3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"robot_platform": "franka_panda"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A3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A3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Robotics Data Pipeline  |  InGen Dynamics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6CF7"/>
          </a:solidFill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Deployed &amp; Ready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737360" cy="1188720"/>
          </a:xfrm>
          <a:prstGeom prst="rect">
            <a:avLst/>
          </a:prstGeom>
          <a:solidFill>
            <a:srgbClr val="4A6CF7">
              <a:alpha val="25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731520" y="1828800"/>
            <a:ext cx="17373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5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17373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Modalities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834640" y="1828800"/>
            <a:ext cx="1737360" cy="1188720"/>
          </a:xfrm>
          <a:prstGeom prst="rect">
            <a:avLst/>
          </a:prstGeom>
          <a:solidFill>
            <a:srgbClr val="4A6CF7">
              <a:alpha val="25000"/>
            </a:srgbClr>
          </a:solidFill>
        </p:spPr>
      </p:sp>
      <p:sp>
        <p:nvSpPr>
          <p:cNvPr id="8" name="Text 6"/>
          <p:cNvSpPr/>
          <p:nvPr/>
        </p:nvSpPr>
        <p:spPr>
          <a:xfrm>
            <a:off x="2834640" y="1828800"/>
            <a:ext cx="17373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834640" y="2468880"/>
            <a:ext cx="17373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37760" y="1828800"/>
            <a:ext cx="1737360" cy="1188720"/>
          </a:xfrm>
          <a:prstGeom prst="rect">
            <a:avLst/>
          </a:prstGeom>
          <a:solidFill>
            <a:srgbClr val="4A6CF7">
              <a:alpha val="25000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4937760" y="1828800"/>
            <a:ext cx="17373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9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937760" y="2468880"/>
            <a:ext cx="17373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40880" y="1828800"/>
            <a:ext cx="1737360" cy="1188720"/>
          </a:xfrm>
          <a:prstGeom prst="rect">
            <a:avLst/>
          </a:prstGeom>
          <a:solidFill>
            <a:srgbClr val="4A6CF7">
              <a:alpha val="25000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7040880" y="1828800"/>
            <a:ext cx="17373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040880" y="2468880"/>
            <a:ext cx="17373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Changes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New Source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3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https://github.com/williamhong111/multimodal-robotics-pipeline</a:t>
            </a:r>
            <a:endParaRPr lang="en-US" altLang="en-US" sz="1300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1520" y="429768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 Hong  |  InGen Dynamics  |  February 2026  |  Confidential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6548</Words>
  <Application>WPS Writer</Application>
  <PresentationFormat>On-screen Show (16:9)</PresentationFormat>
  <Paragraphs>535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3" baseType="lpstr">
      <vt:lpstr>Arial</vt:lpstr>
      <vt:lpstr>SimSun</vt:lpstr>
      <vt:lpstr>Wingdings</vt:lpstr>
      <vt:lpstr>Georgia</vt:lpstr>
      <vt:lpstr>Georgia</vt:lpstr>
      <vt:lpstr>Georgia</vt:lpstr>
      <vt:lpstr>Calibri</vt:lpstr>
      <vt:lpstr>Helvetica Neue</vt:lpstr>
      <vt:lpstr>Calibri</vt:lpstr>
      <vt:lpstr>Calibri</vt:lpstr>
      <vt:lpstr>Consolas</vt:lpstr>
      <vt:lpstr>Consolas</vt:lpstr>
      <vt:lpstr>Consolas</vt:lpstr>
      <vt:lpstr>苹方-简</vt:lpstr>
      <vt:lpstr>汉仪书宋二KW</vt:lpstr>
      <vt:lpstr>Microsoft YaHei</vt:lpstr>
      <vt:lpstr>汉仪旗黑</vt:lpstr>
      <vt:lpstr>Arial Unicode MS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Multimodal Robotics Data Pipeline</dc:title>
  <dc:creator>William Hong</dc:creator>
  <dc:subject>PptxGenJS Presentation</dc:subject>
  <cp:lastModifiedBy>Hong jianchen</cp:lastModifiedBy>
  <cp:revision>2</cp:revision>
  <dcterms:created xsi:type="dcterms:W3CDTF">2026-02-15T07:52:25Z</dcterms:created>
  <dcterms:modified xsi:type="dcterms:W3CDTF">2026-02-15T07:52:25Z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8E061A6610BF225E397B9169FCDCAB2D_42</vt:lpwstr>
  </property>
  <property fmtid="{D5CDD505-2E9C-101B-9397-08002B2CF9AE}" pid="3" name="KSOProductBuildVer">
    <vt:lpwstr>1033-12.1.24031.24031</vt:lpwstr>
  </property>
</Properties>
</file>